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MT" charset="1" panose="02030502070405020303"/>
      <p:regular r:id="rId19"/>
    </p:embeddedFont>
    <p:embeddedFont>
      <p:font typeface="Proxima Nova Bold" charset="1" panose="02000506030000020004"/>
      <p:regular r:id="rId20"/>
    </p:embeddedFont>
    <p:embeddedFont>
      <p:font typeface="Times New Roman MT Bold" charset="1" panose="02030802070405020303"/>
      <p:regular r:id="rId21"/>
    </p:embeddedFont>
    <p:embeddedFont>
      <p:font typeface="Times New Roman Bold" charset="1" panose="02020803070505020304"/>
      <p:regular r:id="rId22"/>
    </p:embeddedFont>
    <p:embeddedFont>
      <p:font typeface="Anton"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696" y="1899393"/>
            <a:ext cx="17454037" cy="1975420"/>
          </a:xfrm>
          <a:prstGeom prst="rect">
            <a:avLst/>
          </a:prstGeom>
        </p:spPr>
        <p:txBody>
          <a:bodyPr anchor="t" rtlCol="false" tIns="0" lIns="0" bIns="0" rIns="0">
            <a:spAutoFit/>
          </a:bodyPr>
          <a:lstStyle/>
          <a:p>
            <a:pPr algn="ctr">
              <a:lnSpc>
                <a:spcPts val="16674"/>
              </a:lnSpc>
            </a:pPr>
            <a:r>
              <a:rPr lang="en-US" sz="6669" spc="46">
                <a:solidFill>
                  <a:srgbClr val="000000"/>
                </a:solidFill>
                <a:latin typeface="Times New Roman MT"/>
                <a:ea typeface="Times New Roman MT"/>
                <a:cs typeface="Times New Roman MT"/>
                <a:sym typeface="Times New Roman MT"/>
              </a:rPr>
              <a:t>MINI PROJECT REPORT</a:t>
            </a:r>
          </a:p>
        </p:txBody>
      </p:sp>
      <p:sp>
        <p:nvSpPr>
          <p:cNvPr name="TextBox 3" id="3"/>
          <p:cNvSpPr txBox="true"/>
          <p:nvPr/>
        </p:nvSpPr>
        <p:spPr>
          <a:xfrm rot="0">
            <a:off x="14931318" y="912072"/>
            <a:ext cx="2327982" cy="641986"/>
          </a:xfrm>
          <a:prstGeom prst="rect">
            <a:avLst/>
          </a:prstGeom>
        </p:spPr>
        <p:txBody>
          <a:bodyPr anchor="t" rtlCol="false" tIns="0" lIns="0" bIns="0" rIns="0">
            <a:spAutoFit/>
          </a:bodyPr>
          <a:lstStyle/>
          <a:p>
            <a:pPr algn="r">
              <a:lnSpc>
                <a:spcPts val="5999"/>
              </a:lnSpc>
            </a:pPr>
            <a:r>
              <a:rPr lang="en-US" b="true" sz="2399" spc="-244">
                <a:solidFill>
                  <a:srgbClr val="FFFFFF"/>
                </a:solidFill>
                <a:latin typeface="Proxima Nova Bold"/>
                <a:ea typeface="Proxima Nova Bold"/>
                <a:cs typeface="Proxima Nova Bold"/>
                <a:sym typeface="Proxima Nova Bold"/>
              </a:rPr>
              <a:t>2039</a:t>
            </a:r>
          </a:p>
        </p:txBody>
      </p:sp>
      <p:sp>
        <p:nvSpPr>
          <p:cNvPr name="TextBox 4" id="4"/>
          <p:cNvSpPr txBox="true"/>
          <p:nvPr/>
        </p:nvSpPr>
        <p:spPr>
          <a:xfrm rot="0">
            <a:off x="3741859" y="4036738"/>
            <a:ext cx="10081711" cy="1106762"/>
          </a:xfrm>
          <a:prstGeom prst="rect">
            <a:avLst/>
          </a:prstGeom>
        </p:spPr>
        <p:txBody>
          <a:bodyPr anchor="t" rtlCol="false" tIns="0" lIns="0" bIns="0" rIns="0">
            <a:spAutoFit/>
          </a:bodyPr>
          <a:lstStyle/>
          <a:p>
            <a:pPr algn="ctr">
              <a:lnSpc>
                <a:spcPts val="9325"/>
              </a:lnSpc>
            </a:pPr>
            <a:r>
              <a:rPr lang="en-US" b="true" sz="3730" spc="-380">
                <a:solidFill>
                  <a:srgbClr val="000000"/>
                </a:solidFill>
                <a:latin typeface="Times New Roman MT Bold"/>
                <a:ea typeface="Times New Roman MT Bold"/>
                <a:cs typeface="Times New Roman MT Bold"/>
                <a:sym typeface="Times New Roman MT Bold"/>
              </a:rPr>
              <a:t>SUMMER  INTERNSHIP  PROGRAM  IN  AI &amp; ML</a:t>
            </a:r>
          </a:p>
        </p:txBody>
      </p:sp>
      <p:sp>
        <p:nvSpPr>
          <p:cNvPr name="TextBox 5" id="5"/>
          <p:cNvSpPr txBox="true"/>
          <p:nvPr/>
        </p:nvSpPr>
        <p:spPr>
          <a:xfrm rot="0">
            <a:off x="931863" y="340104"/>
            <a:ext cx="16327437" cy="1566425"/>
          </a:xfrm>
          <a:prstGeom prst="rect">
            <a:avLst/>
          </a:prstGeom>
        </p:spPr>
        <p:txBody>
          <a:bodyPr anchor="t" rtlCol="false" tIns="0" lIns="0" bIns="0" rIns="0">
            <a:spAutoFit/>
          </a:bodyPr>
          <a:lstStyle/>
          <a:p>
            <a:pPr algn="ctr">
              <a:lnSpc>
                <a:spcPts val="13347"/>
              </a:lnSpc>
            </a:pPr>
            <a:r>
              <a:rPr lang="en-US" b="true" sz="5339" spc="-544">
                <a:solidFill>
                  <a:srgbClr val="000000"/>
                </a:solidFill>
                <a:latin typeface="Times New Roman MT Bold"/>
                <a:ea typeface="Times New Roman MT Bold"/>
                <a:cs typeface="Times New Roman MT Bold"/>
                <a:sym typeface="Times New Roman MT Bold"/>
              </a:rPr>
              <a:t>GLOBAL NEXT CONSULTING INDIA  PRIVATE  LIMITED</a:t>
            </a:r>
          </a:p>
        </p:txBody>
      </p:sp>
      <p:sp>
        <p:nvSpPr>
          <p:cNvPr name="TextBox 6" id="6"/>
          <p:cNvSpPr txBox="true"/>
          <p:nvPr/>
        </p:nvSpPr>
        <p:spPr>
          <a:xfrm rot="0">
            <a:off x="3431666" y="5295900"/>
            <a:ext cx="10702096" cy="1636340"/>
          </a:xfrm>
          <a:prstGeom prst="rect">
            <a:avLst/>
          </a:prstGeom>
        </p:spPr>
        <p:txBody>
          <a:bodyPr anchor="t" rtlCol="false" tIns="0" lIns="0" bIns="0" rIns="0">
            <a:spAutoFit/>
          </a:bodyPr>
          <a:lstStyle/>
          <a:p>
            <a:pPr algn="ctr">
              <a:lnSpc>
                <a:spcPts val="13840"/>
              </a:lnSpc>
            </a:pPr>
            <a:r>
              <a:rPr lang="en-US" sz="5536" spc="-564">
                <a:solidFill>
                  <a:srgbClr val="000000"/>
                </a:solidFill>
                <a:latin typeface="Times New Roman MT"/>
                <a:ea typeface="Times New Roman MT"/>
                <a:cs typeface="Times New Roman MT"/>
                <a:sym typeface="Times New Roman MT"/>
              </a:rPr>
              <a:t>TOPIC:  Credit Card Fraud Detection EDA </a:t>
            </a:r>
          </a:p>
        </p:txBody>
      </p:sp>
      <p:sp>
        <p:nvSpPr>
          <p:cNvPr name="TextBox 7" id="7"/>
          <p:cNvSpPr txBox="true"/>
          <p:nvPr/>
        </p:nvSpPr>
        <p:spPr>
          <a:xfrm rot="0">
            <a:off x="370187" y="7888933"/>
            <a:ext cx="6743343" cy="2214859"/>
          </a:xfrm>
          <a:prstGeom prst="rect">
            <a:avLst/>
          </a:prstGeom>
        </p:spPr>
        <p:txBody>
          <a:bodyPr anchor="t" rtlCol="false" tIns="0" lIns="0" bIns="0" rIns="0">
            <a:spAutoFit/>
          </a:bodyPr>
          <a:lstStyle/>
          <a:p>
            <a:pPr algn="l">
              <a:lnSpc>
                <a:spcPts val="9009"/>
              </a:lnSpc>
            </a:pPr>
            <a:r>
              <a:rPr lang="en-US" sz="3603" spc="-367" b="true">
                <a:solidFill>
                  <a:srgbClr val="000000"/>
                </a:solidFill>
                <a:latin typeface="Times New Roman MT Bold"/>
                <a:ea typeface="Times New Roman MT Bold"/>
                <a:cs typeface="Times New Roman MT Bold"/>
                <a:sym typeface="Times New Roman MT Bold"/>
              </a:rPr>
              <a:t>Presented By: </a:t>
            </a:r>
            <a:r>
              <a:rPr lang="en-US" sz="3603" spc="-367">
                <a:solidFill>
                  <a:srgbClr val="000000"/>
                </a:solidFill>
                <a:latin typeface="Times New Roman MT"/>
                <a:ea typeface="Times New Roman MT"/>
                <a:cs typeface="Times New Roman MT"/>
                <a:sym typeface="Times New Roman MT"/>
              </a:rPr>
              <a:t>BETHA  JAYANTH  VEER</a:t>
            </a:r>
          </a:p>
          <a:p>
            <a:pPr algn="l">
              <a:lnSpc>
                <a:spcPts val="9009"/>
              </a:lnSpc>
            </a:pPr>
            <a:r>
              <a:rPr lang="en-US" sz="3603" spc="-367" b="true">
                <a:solidFill>
                  <a:srgbClr val="000000"/>
                </a:solidFill>
                <a:latin typeface="Times New Roman MT Bold"/>
                <a:ea typeface="Times New Roman MT Bold"/>
                <a:cs typeface="Times New Roman MT Bold"/>
                <a:sym typeface="Times New Roman MT Bold"/>
              </a:rPr>
              <a:t>Date :</a:t>
            </a:r>
            <a:r>
              <a:rPr lang="en-US" sz="3603" spc="-367">
                <a:solidFill>
                  <a:srgbClr val="000000"/>
                </a:solidFill>
                <a:latin typeface="Times New Roman MT"/>
                <a:ea typeface="Times New Roman MT"/>
                <a:cs typeface="Times New Roman MT"/>
                <a:sym typeface="Times New Roman MT"/>
              </a:rPr>
              <a:t> 15-06-2026</a:t>
            </a:r>
          </a:p>
        </p:txBody>
      </p:sp>
      <p:sp>
        <p:nvSpPr>
          <p:cNvPr name="TextBox 8" id="8"/>
          <p:cNvSpPr txBox="true"/>
          <p:nvPr/>
        </p:nvSpPr>
        <p:spPr>
          <a:xfrm rot="0">
            <a:off x="14155031" y="6161695"/>
            <a:ext cx="1552575" cy="581024"/>
          </a:xfrm>
          <a:prstGeom prst="rect">
            <a:avLst/>
          </a:prstGeom>
        </p:spPr>
        <p:txBody>
          <a:bodyPr anchor="t" rtlCol="false" tIns="0" lIns="0" bIns="0" rIns="0">
            <a:spAutoFit/>
          </a:bodyPr>
          <a:lstStyle/>
          <a:p>
            <a:pPr algn="ctr">
              <a:lnSpc>
                <a:spcPts val="4200"/>
              </a:lnSpc>
              <a:spcBef>
                <a:spcPct val="0"/>
              </a:spcBef>
            </a:pPr>
            <a:r>
              <a:rPr lang="en-US" sz="3000" spc="-102">
                <a:solidFill>
                  <a:srgbClr val="000000"/>
                </a:solidFill>
                <a:latin typeface="Times New Roman MT"/>
                <a:ea typeface="Times New Roman MT"/>
                <a:cs typeface="Times New Roman MT"/>
                <a:sym typeface="Times New Roman MT"/>
              </a:rPr>
              <a:t>(WEEK2)</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2092" y="1530985"/>
            <a:ext cx="10154941"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Project Title: </a:t>
            </a:r>
            <a:r>
              <a:rPr lang="en-US" sz="3700" spc="-125">
                <a:solidFill>
                  <a:srgbClr val="012D3D"/>
                </a:solidFill>
                <a:latin typeface="Times New Roman MT"/>
                <a:ea typeface="Times New Roman MT"/>
                <a:cs typeface="Times New Roman MT"/>
                <a:sym typeface="Times New Roman MT"/>
              </a:rPr>
              <a:t>Credit Card Fraud Detection EDA.</a:t>
            </a:r>
          </a:p>
        </p:txBody>
      </p:sp>
      <p:sp>
        <p:nvSpPr>
          <p:cNvPr name="TextBox 3" id="3"/>
          <p:cNvSpPr txBox="true"/>
          <p:nvPr/>
        </p:nvSpPr>
        <p:spPr>
          <a:xfrm rot="0">
            <a:off x="402092" y="2134235"/>
            <a:ext cx="5980542"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Domain: </a:t>
            </a:r>
            <a:r>
              <a:rPr lang="en-US" sz="3700" spc="-125">
                <a:solidFill>
                  <a:srgbClr val="012D3D"/>
                </a:solidFill>
                <a:latin typeface="Times New Roman MT"/>
                <a:ea typeface="Times New Roman MT"/>
                <a:cs typeface="Times New Roman MT"/>
                <a:sym typeface="Times New Roman MT"/>
              </a:rPr>
              <a:t>IT Security.</a:t>
            </a:r>
          </a:p>
        </p:txBody>
      </p:sp>
      <p:sp>
        <p:nvSpPr>
          <p:cNvPr name="TextBox 4" id="4"/>
          <p:cNvSpPr txBox="true"/>
          <p:nvPr/>
        </p:nvSpPr>
        <p:spPr>
          <a:xfrm rot="0">
            <a:off x="402092" y="2840355"/>
            <a:ext cx="17885908" cy="2677795"/>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Problem Statement:</a:t>
            </a:r>
            <a:r>
              <a:rPr lang="en-US" sz="3700" spc="-125">
                <a:solidFill>
                  <a:srgbClr val="012D3D"/>
                </a:solidFill>
                <a:latin typeface="Times New Roman MT"/>
                <a:ea typeface="Times New Roman MT"/>
                <a:cs typeface="Times New Roman MT"/>
                <a:sym typeface="Times New Roman MT"/>
              </a:rPr>
              <a:t> Credit card fraud has become a major concern in digital transactions. Analyzing transaction data can help identify patterns associated with fraudulent activities and provide insights into transaction behavior.</a:t>
            </a:r>
          </a:p>
          <a:p>
            <a:pPr algn="l" marL="798831" indent="-399416" lvl="1">
              <a:lnSpc>
                <a:spcPts val="5180"/>
              </a:lnSpc>
              <a:buFont typeface="Arial"/>
              <a:buChar char="•"/>
            </a:pPr>
          </a:p>
        </p:txBody>
      </p:sp>
      <p:sp>
        <p:nvSpPr>
          <p:cNvPr name="TextBox 5" id="5"/>
          <p:cNvSpPr txBox="true"/>
          <p:nvPr/>
        </p:nvSpPr>
        <p:spPr>
          <a:xfrm rot="0">
            <a:off x="402092" y="4773753"/>
            <a:ext cx="11925565"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Dataset Used: </a:t>
            </a:r>
            <a:r>
              <a:rPr lang="en-US" sz="3700" spc="-125">
                <a:solidFill>
                  <a:srgbClr val="012D3D"/>
                </a:solidFill>
                <a:latin typeface="Times New Roman MT"/>
                <a:ea typeface="Times New Roman MT"/>
                <a:cs typeface="Times New Roman MT"/>
                <a:sym typeface="Times New Roman MT"/>
              </a:rPr>
              <a:t>Kaggle Credit Card Fraud Dataset.</a:t>
            </a:r>
          </a:p>
        </p:txBody>
      </p:sp>
      <p:sp>
        <p:nvSpPr>
          <p:cNvPr name="TextBox 6" id="6"/>
          <p:cNvSpPr txBox="true"/>
          <p:nvPr/>
        </p:nvSpPr>
        <p:spPr>
          <a:xfrm rot="0">
            <a:off x="1217049" y="5518150"/>
            <a:ext cx="11548710" cy="5306695"/>
          </a:xfrm>
          <a:prstGeom prst="rect">
            <a:avLst/>
          </a:prstGeom>
        </p:spPr>
        <p:txBody>
          <a:bodyPr anchor="t" rtlCol="false" tIns="0" lIns="0" bIns="0" rIns="0">
            <a:spAutoFit/>
          </a:bodyPr>
          <a:lstStyle/>
          <a:p>
            <a:pPr algn="l">
              <a:lnSpc>
                <a:spcPts val="5180"/>
              </a:lnSpc>
            </a:pPr>
            <a:r>
              <a:rPr lang="en-US" b="true" sz="3700" spc="-125">
                <a:solidFill>
                  <a:srgbClr val="012D3D"/>
                </a:solidFill>
                <a:latin typeface="Times New Roman MT Bold"/>
                <a:ea typeface="Times New Roman MT Bold"/>
                <a:cs typeface="Times New Roman MT Bold"/>
                <a:sym typeface="Times New Roman MT Bold"/>
              </a:rPr>
              <a:t>Project Overview:</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Analyze fraud and non-fraud transactions.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Study transaction amount patterns.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Analyze merchant categories.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Examine foreign and domestic transactions.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Identify key trends using visualizations.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Generate meaningful insights from transaction data.</a:t>
            </a:r>
          </a:p>
          <a:p>
            <a:pPr algn="l">
              <a:lnSpc>
                <a:spcPts val="5180"/>
              </a:lnSpc>
            </a:pPr>
          </a:p>
        </p:txBody>
      </p:sp>
      <p:sp>
        <p:nvSpPr>
          <p:cNvPr name="TextBox 7" id="7"/>
          <p:cNvSpPr txBox="true"/>
          <p:nvPr/>
        </p:nvSpPr>
        <p:spPr>
          <a:xfrm rot="0">
            <a:off x="749001" y="316865"/>
            <a:ext cx="12963466"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PROJECT OVERVIEW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1329" y="2930041"/>
            <a:ext cx="15825342" cy="3659610"/>
          </a:xfrm>
          <a:custGeom>
            <a:avLst/>
            <a:gdLst/>
            <a:ahLst/>
            <a:cxnLst/>
            <a:rect r="r" b="b" t="t" l="l"/>
            <a:pathLst>
              <a:path h="3659610" w="15825342">
                <a:moveTo>
                  <a:pt x="0" y="0"/>
                </a:moveTo>
                <a:lnTo>
                  <a:pt x="15825342" y="0"/>
                </a:lnTo>
                <a:lnTo>
                  <a:pt x="15825342" y="3659610"/>
                </a:lnTo>
                <a:lnTo>
                  <a:pt x="0" y="3659610"/>
                </a:lnTo>
                <a:lnTo>
                  <a:pt x="0" y="0"/>
                </a:lnTo>
                <a:close/>
              </a:path>
            </a:pathLst>
          </a:custGeom>
          <a:blipFill>
            <a:blip r:embed="rId2"/>
            <a:stretch>
              <a:fillRect l="0" t="0" r="0" b="0"/>
            </a:stretch>
          </a:blipFill>
        </p:spPr>
      </p:sp>
      <p:sp>
        <p:nvSpPr>
          <p:cNvPr name="Freeform 3" id="3"/>
          <p:cNvSpPr/>
          <p:nvPr/>
        </p:nvSpPr>
        <p:spPr>
          <a:xfrm flipH="false" flipV="false" rot="0">
            <a:off x="6470509" y="6589651"/>
            <a:ext cx="5346983" cy="3541841"/>
          </a:xfrm>
          <a:custGeom>
            <a:avLst/>
            <a:gdLst/>
            <a:ahLst/>
            <a:cxnLst/>
            <a:rect r="r" b="b" t="t" l="l"/>
            <a:pathLst>
              <a:path h="3541841" w="5346983">
                <a:moveTo>
                  <a:pt x="0" y="0"/>
                </a:moveTo>
                <a:lnTo>
                  <a:pt x="5346982" y="0"/>
                </a:lnTo>
                <a:lnTo>
                  <a:pt x="5346982" y="3541842"/>
                </a:lnTo>
                <a:lnTo>
                  <a:pt x="0" y="3541842"/>
                </a:lnTo>
                <a:lnTo>
                  <a:pt x="0" y="0"/>
                </a:lnTo>
                <a:close/>
              </a:path>
            </a:pathLst>
          </a:custGeom>
          <a:blipFill>
            <a:blip r:embed="rId3"/>
            <a:stretch>
              <a:fillRect l="0" t="0" r="0" b="0"/>
            </a:stretch>
          </a:blipFill>
        </p:spPr>
      </p:sp>
      <p:sp>
        <p:nvSpPr>
          <p:cNvPr name="TextBox 4" id="4"/>
          <p:cNvSpPr txBox="true"/>
          <p:nvPr/>
        </p:nvSpPr>
        <p:spPr>
          <a:xfrm rot="0">
            <a:off x="672876" y="421640"/>
            <a:ext cx="12963466" cy="1104903"/>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Bold"/>
                <a:ea typeface="Times New Roman Bold"/>
                <a:cs typeface="Times New Roman Bold"/>
                <a:sym typeface="Times New Roman Bold"/>
              </a:rPr>
              <a:t>DATASET DESCRIPTION</a:t>
            </a:r>
          </a:p>
        </p:txBody>
      </p:sp>
      <p:sp>
        <p:nvSpPr>
          <p:cNvPr name="TextBox 5" id="5"/>
          <p:cNvSpPr txBox="true"/>
          <p:nvPr/>
        </p:nvSpPr>
        <p:spPr>
          <a:xfrm rot="0">
            <a:off x="481382" y="2031451"/>
            <a:ext cx="17325235"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dataset contains information about credit card transactions and fraud-related attributes.</a:t>
            </a:r>
          </a:p>
          <a:p>
            <a:pPr algn="l">
              <a:lnSpc>
                <a:spcPts val="406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40558" y="3141726"/>
            <a:ext cx="9412555" cy="3290555"/>
          </a:xfrm>
          <a:custGeom>
            <a:avLst/>
            <a:gdLst/>
            <a:ahLst/>
            <a:cxnLst/>
            <a:rect r="r" b="b" t="t" l="l"/>
            <a:pathLst>
              <a:path h="3290555" w="9412555">
                <a:moveTo>
                  <a:pt x="0" y="0"/>
                </a:moveTo>
                <a:lnTo>
                  <a:pt x="9412555" y="0"/>
                </a:lnTo>
                <a:lnTo>
                  <a:pt x="9412555" y="3290555"/>
                </a:lnTo>
                <a:lnTo>
                  <a:pt x="0" y="3290555"/>
                </a:lnTo>
                <a:lnTo>
                  <a:pt x="0" y="0"/>
                </a:lnTo>
                <a:close/>
              </a:path>
            </a:pathLst>
          </a:custGeom>
          <a:blipFill>
            <a:blip r:embed="rId2"/>
            <a:stretch>
              <a:fillRect l="-1036" t="-2139" r="0" b="0"/>
            </a:stretch>
          </a:blipFill>
        </p:spPr>
      </p:sp>
      <p:sp>
        <p:nvSpPr>
          <p:cNvPr name="Freeform 3" id="3"/>
          <p:cNvSpPr/>
          <p:nvPr/>
        </p:nvSpPr>
        <p:spPr>
          <a:xfrm flipH="false" flipV="false" rot="0">
            <a:off x="1942992" y="6259043"/>
            <a:ext cx="13237273" cy="3822263"/>
          </a:xfrm>
          <a:custGeom>
            <a:avLst/>
            <a:gdLst/>
            <a:ahLst/>
            <a:cxnLst/>
            <a:rect r="r" b="b" t="t" l="l"/>
            <a:pathLst>
              <a:path h="3822263" w="13237273">
                <a:moveTo>
                  <a:pt x="0" y="0"/>
                </a:moveTo>
                <a:lnTo>
                  <a:pt x="13237273" y="0"/>
                </a:lnTo>
                <a:lnTo>
                  <a:pt x="13237273" y="3822263"/>
                </a:lnTo>
                <a:lnTo>
                  <a:pt x="0" y="3822263"/>
                </a:lnTo>
                <a:lnTo>
                  <a:pt x="0" y="0"/>
                </a:lnTo>
                <a:close/>
              </a:path>
            </a:pathLst>
          </a:custGeom>
          <a:blipFill>
            <a:blip r:embed="rId3"/>
            <a:stretch>
              <a:fillRect l="0" t="0" r="0" b="0"/>
            </a:stretch>
          </a:blipFill>
        </p:spPr>
      </p:sp>
      <p:sp>
        <p:nvSpPr>
          <p:cNvPr name="TextBox 4" id="4"/>
          <p:cNvSpPr txBox="true"/>
          <p:nvPr/>
        </p:nvSpPr>
        <p:spPr>
          <a:xfrm rot="0">
            <a:off x="456150" y="1957546"/>
            <a:ext cx="14697432" cy="5994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dataset contains information about credit card transactions and fraud-related attributes.</a:t>
            </a:r>
          </a:p>
        </p:txBody>
      </p:sp>
      <p:sp>
        <p:nvSpPr>
          <p:cNvPr name="TextBox 5" id="5"/>
          <p:cNvSpPr txBox="true"/>
          <p:nvPr/>
        </p:nvSpPr>
        <p:spPr>
          <a:xfrm rot="0">
            <a:off x="912300" y="336284"/>
            <a:ext cx="14267965"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DATASET DESCRIPTION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29502" y="2853177"/>
            <a:ext cx="7028996" cy="6837991"/>
          </a:xfrm>
          <a:custGeom>
            <a:avLst/>
            <a:gdLst/>
            <a:ahLst/>
            <a:cxnLst/>
            <a:rect r="r" b="b" t="t" l="l"/>
            <a:pathLst>
              <a:path h="6837991" w="7028996">
                <a:moveTo>
                  <a:pt x="0" y="0"/>
                </a:moveTo>
                <a:lnTo>
                  <a:pt x="7028996" y="0"/>
                </a:lnTo>
                <a:lnTo>
                  <a:pt x="7028996" y="6837991"/>
                </a:lnTo>
                <a:lnTo>
                  <a:pt x="0" y="6837991"/>
                </a:lnTo>
                <a:lnTo>
                  <a:pt x="0" y="0"/>
                </a:lnTo>
                <a:close/>
              </a:path>
            </a:pathLst>
          </a:custGeom>
          <a:blipFill>
            <a:blip r:embed="rId2"/>
            <a:stretch>
              <a:fillRect l="0" t="0" r="0" b="0"/>
            </a:stretch>
          </a:blipFill>
        </p:spPr>
      </p:sp>
      <p:sp>
        <p:nvSpPr>
          <p:cNvPr name="TextBox 3" id="3"/>
          <p:cNvSpPr txBox="true"/>
          <p:nvPr/>
        </p:nvSpPr>
        <p:spPr>
          <a:xfrm rot="0">
            <a:off x="456150" y="1957546"/>
            <a:ext cx="17375700"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We perform data preprocesing to prepare the datsset for analysis.. we check whether the data set contains null or duplicate values.</a:t>
            </a:r>
          </a:p>
        </p:txBody>
      </p:sp>
      <p:sp>
        <p:nvSpPr>
          <p:cNvPr name="TextBox 4" id="4"/>
          <p:cNvSpPr txBox="true"/>
          <p:nvPr/>
        </p:nvSpPr>
        <p:spPr>
          <a:xfrm rot="0">
            <a:off x="912300" y="336284"/>
            <a:ext cx="14267965"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DATASET PREPROCESSING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640755"/>
            <a:ext cx="7921107" cy="4112556"/>
          </a:xfrm>
          <a:custGeom>
            <a:avLst/>
            <a:gdLst/>
            <a:ahLst/>
            <a:cxnLst/>
            <a:rect r="r" b="b" t="t" l="l"/>
            <a:pathLst>
              <a:path h="4112556" w="7921107">
                <a:moveTo>
                  <a:pt x="0" y="0"/>
                </a:moveTo>
                <a:lnTo>
                  <a:pt x="7921107" y="0"/>
                </a:lnTo>
                <a:lnTo>
                  <a:pt x="7921107" y="4112556"/>
                </a:lnTo>
                <a:lnTo>
                  <a:pt x="0" y="4112556"/>
                </a:lnTo>
                <a:lnTo>
                  <a:pt x="0" y="0"/>
                </a:lnTo>
                <a:close/>
              </a:path>
            </a:pathLst>
          </a:custGeom>
          <a:blipFill>
            <a:blip r:embed="rId2"/>
            <a:stretch>
              <a:fillRect l="0" t="0" r="-40519" b="0"/>
            </a:stretch>
          </a:blipFill>
        </p:spPr>
      </p:sp>
      <p:sp>
        <p:nvSpPr>
          <p:cNvPr name="Freeform 3" id="3"/>
          <p:cNvSpPr/>
          <p:nvPr/>
        </p:nvSpPr>
        <p:spPr>
          <a:xfrm flipH="false" flipV="false" rot="0">
            <a:off x="9387633" y="3332239"/>
            <a:ext cx="8003765" cy="5926061"/>
          </a:xfrm>
          <a:custGeom>
            <a:avLst/>
            <a:gdLst/>
            <a:ahLst/>
            <a:cxnLst/>
            <a:rect r="r" b="b" t="t" l="l"/>
            <a:pathLst>
              <a:path h="5926061" w="8003765">
                <a:moveTo>
                  <a:pt x="0" y="0"/>
                </a:moveTo>
                <a:lnTo>
                  <a:pt x="8003765" y="0"/>
                </a:lnTo>
                <a:lnTo>
                  <a:pt x="8003765" y="5926061"/>
                </a:lnTo>
                <a:lnTo>
                  <a:pt x="0" y="5926061"/>
                </a:lnTo>
                <a:lnTo>
                  <a:pt x="0" y="0"/>
                </a:lnTo>
                <a:close/>
              </a:path>
            </a:pathLst>
          </a:custGeom>
          <a:blipFill>
            <a:blip r:embed="rId3"/>
            <a:stretch>
              <a:fillRect l="0" t="0" r="0" b="0"/>
            </a:stretch>
          </a:blipFill>
        </p:spPr>
      </p:sp>
      <p:sp>
        <p:nvSpPr>
          <p:cNvPr name="TextBox 4" id="4"/>
          <p:cNvSpPr txBox="true"/>
          <p:nvPr/>
        </p:nvSpPr>
        <p:spPr>
          <a:xfrm rot="0">
            <a:off x="622411" y="1823189"/>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dataset was analyzed to compare fraudulent and genuine transactions.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Transaction counts were calculated for each class.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A bar chart was used to visualize the distribution.</a:t>
            </a:r>
          </a:p>
        </p:txBody>
      </p:sp>
      <p:sp>
        <p:nvSpPr>
          <p:cNvPr name="TextBox 5" id="5"/>
          <p:cNvSpPr txBox="true"/>
          <p:nvPr/>
        </p:nvSpPr>
        <p:spPr>
          <a:xfrm rot="0">
            <a:off x="912300" y="336284"/>
            <a:ext cx="16950667"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FRAUD VS NON-FRAUD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59940" y="3951867"/>
            <a:ext cx="6333056" cy="1633526"/>
          </a:xfrm>
          <a:custGeom>
            <a:avLst/>
            <a:gdLst/>
            <a:ahLst/>
            <a:cxnLst/>
            <a:rect r="r" b="b" t="t" l="l"/>
            <a:pathLst>
              <a:path h="1633526" w="6333056">
                <a:moveTo>
                  <a:pt x="0" y="0"/>
                </a:moveTo>
                <a:lnTo>
                  <a:pt x="6333056" y="0"/>
                </a:lnTo>
                <a:lnTo>
                  <a:pt x="6333056" y="1633526"/>
                </a:lnTo>
                <a:lnTo>
                  <a:pt x="0" y="1633526"/>
                </a:lnTo>
                <a:lnTo>
                  <a:pt x="0" y="0"/>
                </a:lnTo>
                <a:close/>
              </a:path>
            </a:pathLst>
          </a:custGeom>
          <a:blipFill>
            <a:blip r:embed="rId2"/>
            <a:stretch>
              <a:fillRect l="0" t="0" r="0" b="0"/>
            </a:stretch>
          </a:blipFill>
        </p:spPr>
      </p:sp>
      <p:sp>
        <p:nvSpPr>
          <p:cNvPr name="Freeform 3" id="3"/>
          <p:cNvSpPr/>
          <p:nvPr/>
        </p:nvSpPr>
        <p:spPr>
          <a:xfrm flipH="false" flipV="false" rot="0">
            <a:off x="9401243" y="2980934"/>
            <a:ext cx="7975241" cy="5953774"/>
          </a:xfrm>
          <a:custGeom>
            <a:avLst/>
            <a:gdLst/>
            <a:ahLst/>
            <a:cxnLst/>
            <a:rect r="r" b="b" t="t" l="l"/>
            <a:pathLst>
              <a:path h="5953774" w="7975241">
                <a:moveTo>
                  <a:pt x="0" y="0"/>
                </a:moveTo>
                <a:lnTo>
                  <a:pt x="7975241" y="0"/>
                </a:lnTo>
                <a:lnTo>
                  <a:pt x="7975241" y="5953774"/>
                </a:lnTo>
                <a:lnTo>
                  <a:pt x="0" y="5953774"/>
                </a:lnTo>
                <a:lnTo>
                  <a:pt x="0" y="0"/>
                </a:lnTo>
                <a:close/>
              </a:path>
            </a:pathLst>
          </a:custGeom>
          <a:blipFill>
            <a:blip r:embed="rId3"/>
            <a:stretch>
              <a:fillRect l="0" t="0" r="0" b="0"/>
            </a:stretch>
          </a:blipFill>
        </p:spPr>
      </p:sp>
      <p:sp>
        <p:nvSpPr>
          <p:cNvPr name="TextBox 4" id="4"/>
          <p:cNvSpPr txBox="true"/>
          <p:nvPr/>
        </p:nvSpPr>
        <p:spPr>
          <a:xfrm rot="0">
            <a:off x="598188" y="1942727"/>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Transaction amounts were analyzed to understand spending patterns.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A histogram was created to visualize the distribution of transaction values.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This helps identify common transaction ranges.</a:t>
            </a:r>
          </a:p>
        </p:txBody>
      </p:sp>
      <p:sp>
        <p:nvSpPr>
          <p:cNvPr name="TextBox 5" id="5"/>
          <p:cNvSpPr txBox="true"/>
          <p:nvPr/>
        </p:nvSpPr>
        <p:spPr>
          <a:xfrm rot="0">
            <a:off x="598188" y="390523"/>
            <a:ext cx="17819516"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TRANSACTION AMOUNT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64481" y="4183015"/>
            <a:ext cx="6242362" cy="3758722"/>
          </a:xfrm>
          <a:custGeom>
            <a:avLst/>
            <a:gdLst/>
            <a:ahLst/>
            <a:cxnLst/>
            <a:rect r="r" b="b" t="t" l="l"/>
            <a:pathLst>
              <a:path h="3758722" w="6242362">
                <a:moveTo>
                  <a:pt x="0" y="0"/>
                </a:moveTo>
                <a:lnTo>
                  <a:pt x="6242362" y="0"/>
                </a:lnTo>
                <a:lnTo>
                  <a:pt x="6242362" y="3758722"/>
                </a:lnTo>
                <a:lnTo>
                  <a:pt x="0" y="3758722"/>
                </a:lnTo>
                <a:lnTo>
                  <a:pt x="0" y="0"/>
                </a:lnTo>
                <a:close/>
              </a:path>
            </a:pathLst>
          </a:custGeom>
          <a:blipFill>
            <a:blip r:embed="rId2"/>
            <a:stretch>
              <a:fillRect l="0" t="0" r="0" b="0"/>
            </a:stretch>
          </a:blipFill>
        </p:spPr>
      </p:sp>
      <p:sp>
        <p:nvSpPr>
          <p:cNvPr name="Freeform 3" id="3"/>
          <p:cNvSpPr/>
          <p:nvPr/>
        </p:nvSpPr>
        <p:spPr>
          <a:xfrm flipH="false" flipV="false" rot="0">
            <a:off x="9389516" y="3064478"/>
            <a:ext cx="7837640" cy="5995795"/>
          </a:xfrm>
          <a:custGeom>
            <a:avLst/>
            <a:gdLst/>
            <a:ahLst/>
            <a:cxnLst/>
            <a:rect r="r" b="b" t="t" l="l"/>
            <a:pathLst>
              <a:path h="5995795" w="7837640">
                <a:moveTo>
                  <a:pt x="0" y="0"/>
                </a:moveTo>
                <a:lnTo>
                  <a:pt x="7837640" y="0"/>
                </a:lnTo>
                <a:lnTo>
                  <a:pt x="7837640" y="5995795"/>
                </a:lnTo>
                <a:lnTo>
                  <a:pt x="0" y="5995795"/>
                </a:lnTo>
                <a:lnTo>
                  <a:pt x="0" y="0"/>
                </a:lnTo>
                <a:close/>
              </a:path>
            </a:pathLst>
          </a:custGeom>
          <a:blipFill>
            <a:blip r:embed="rId3"/>
            <a:stretch>
              <a:fillRect l="0" t="0" r="0" b="0"/>
            </a:stretch>
          </a:blipFill>
        </p:spPr>
      </p:sp>
      <p:sp>
        <p:nvSpPr>
          <p:cNvPr name="TextBox 4" id="4"/>
          <p:cNvSpPr txBox="true"/>
          <p:nvPr/>
        </p:nvSpPr>
        <p:spPr>
          <a:xfrm rot="0">
            <a:off x="453769" y="1625467"/>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Transactions were grouped based on merchant categories.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frequency of transactions in each category was calculated.</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A bar chart was used to compare merchant categories .</a:t>
            </a:r>
          </a:p>
        </p:txBody>
      </p:sp>
      <p:sp>
        <p:nvSpPr>
          <p:cNvPr name="TextBox 5" id="5"/>
          <p:cNvSpPr txBox="true"/>
          <p:nvPr/>
        </p:nvSpPr>
        <p:spPr>
          <a:xfrm rot="0">
            <a:off x="453769" y="390523"/>
            <a:ext cx="17871494"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MERCHANT CATEGORY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027506"/>
            <a:ext cx="7883818" cy="3937217"/>
          </a:xfrm>
          <a:custGeom>
            <a:avLst/>
            <a:gdLst/>
            <a:ahLst/>
            <a:cxnLst/>
            <a:rect r="r" b="b" t="t" l="l"/>
            <a:pathLst>
              <a:path h="3937217" w="7883818">
                <a:moveTo>
                  <a:pt x="0" y="0"/>
                </a:moveTo>
                <a:lnTo>
                  <a:pt x="7883818" y="0"/>
                </a:lnTo>
                <a:lnTo>
                  <a:pt x="7883818" y="3937217"/>
                </a:lnTo>
                <a:lnTo>
                  <a:pt x="0" y="3937217"/>
                </a:lnTo>
                <a:lnTo>
                  <a:pt x="0" y="0"/>
                </a:lnTo>
                <a:close/>
              </a:path>
            </a:pathLst>
          </a:custGeom>
          <a:blipFill>
            <a:blip r:embed="rId2"/>
            <a:stretch>
              <a:fillRect l="0" t="0" r="-14953" b="0"/>
            </a:stretch>
          </a:blipFill>
        </p:spPr>
      </p:sp>
      <p:sp>
        <p:nvSpPr>
          <p:cNvPr name="Freeform 3" id="3"/>
          <p:cNvSpPr/>
          <p:nvPr/>
        </p:nvSpPr>
        <p:spPr>
          <a:xfrm flipH="false" flipV="false" rot="0">
            <a:off x="9643800" y="3034157"/>
            <a:ext cx="8168446" cy="5923917"/>
          </a:xfrm>
          <a:custGeom>
            <a:avLst/>
            <a:gdLst/>
            <a:ahLst/>
            <a:cxnLst/>
            <a:rect r="r" b="b" t="t" l="l"/>
            <a:pathLst>
              <a:path h="5923917" w="8168446">
                <a:moveTo>
                  <a:pt x="0" y="0"/>
                </a:moveTo>
                <a:lnTo>
                  <a:pt x="8168445" y="0"/>
                </a:lnTo>
                <a:lnTo>
                  <a:pt x="8168445" y="5923916"/>
                </a:lnTo>
                <a:lnTo>
                  <a:pt x="0" y="5923916"/>
                </a:lnTo>
                <a:lnTo>
                  <a:pt x="0" y="0"/>
                </a:lnTo>
                <a:close/>
              </a:path>
            </a:pathLst>
          </a:custGeom>
          <a:blipFill>
            <a:blip r:embed="rId3"/>
            <a:stretch>
              <a:fillRect l="0" t="0" r="0" b="0"/>
            </a:stretch>
          </a:blipFill>
        </p:spPr>
      </p:sp>
      <p:sp>
        <p:nvSpPr>
          <p:cNvPr name="TextBox 4" id="4"/>
          <p:cNvSpPr txBox="true"/>
          <p:nvPr/>
        </p:nvSpPr>
        <p:spPr>
          <a:xfrm rot="0">
            <a:off x="517467" y="1552204"/>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Transactions were analyzed based on whether they were foreign or domestic.</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distribution was visualized using a bar chart.</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This helps understand transaction patterns across locations.</a:t>
            </a:r>
          </a:p>
        </p:txBody>
      </p:sp>
      <p:sp>
        <p:nvSpPr>
          <p:cNvPr name="TextBox 5" id="5"/>
          <p:cNvSpPr txBox="true"/>
          <p:nvPr/>
        </p:nvSpPr>
        <p:spPr>
          <a:xfrm rot="0">
            <a:off x="517467" y="207366"/>
            <a:ext cx="18252665"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FOREIGN TRANSACTION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143500"/>
            <a:ext cx="7298986" cy="1676668"/>
          </a:xfrm>
          <a:custGeom>
            <a:avLst/>
            <a:gdLst/>
            <a:ahLst/>
            <a:cxnLst/>
            <a:rect r="r" b="b" t="t" l="l"/>
            <a:pathLst>
              <a:path h="1676668" w="7298986">
                <a:moveTo>
                  <a:pt x="0" y="0"/>
                </a:moveTo>
                <a:lnTo>
                  <a:pt x="7298986" y="0"/>
                </a:lnTo>
                <a:lnTo>
                  <a:pt x="7298986" y="1676668"/>
                </a:lnTo>
                <a:lnTo>
                  <a:pt x="0" y="1676668"/>
                </a:lnTo>
                <a:lnTo>
                  <a:pt x="0" y="0"/>
                </a:lnTo>
                <a:close/>
              </a:path>
            </a:pathLst>
          </a:custGeom>
          <a:blipFill>
            <a:blip r:embed="rId2"/>
            <a:stretch>
              <a:fillRect l="0" t="0" r="-9166" b="0"/>
            </a:stretch>
          </a:blipFill>
        </p:spPr>
      </p:sp>
      <p:sp>
        <p:nvSpPr>
          <p:cNvPr name="Freeform 3" id="3"/>
          <p:cNvSpPr/>
          <p:nvPr/>
        </p:nvSpPr>
        <p:spPr>
          <a:xfrm flipH="false" flipV="false" rot="0">
            <a:off x="9658350" y="3253607"/>
            <a:ext cx="8154754" cy="6737865"/>
          </a:xfrm>
          <a:custGeom>
            <a:avLst/>
            <a:gdLst/>
            <a:ahLst/>
            <a:cxnLst/>
            <a:rect r="r" b="b" t="t" l="l"/>
            <a:pathLst>
              <a:path h="6737865" w="8154754">
                <a:moveTo>
                  <a:pt x="0" y="0"/>
                </a:moveTo>
                <a:lnTo>
                  <a:pt x="8154754" y="0"/>
                </a:lnTo>
                <a:lnTo>
                  <a:pt x="8154754" y="6737865"/>
                </a:lnTo>
                <a:lnTo>
                  <a:pt x="0" y="6737865"/>
                </a:lnTo>
                <a:lnTo>
                  <a:pt x="0" y="0"/>
                </a:lnTo>
                <a:close/>
              </a:path>
            </a:pathLst>
          </a:custGeom>
          <a:blipFill>
            <a:blip r:embed="rId3"/>
            <a:stretch>
              <a:fillRect l="0" t="0" r="0" b="0"/>
            </a:stretch>
          </a:blipFill>
        </p:spPr>
      </p:sp>
      <p:sp>
        <p:nvSpPr>
          <p:cNvPr name="TextBox 4" id="4"/>
          <p:cNvSpPr txBox="true"/>
          <p:nvPr/>
        </p:nvSpPr>
        <p:spPr>
          <a:xfrm rot="0">
            <a:off x="490560" y="1625467"/>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A correlation heatmap was generated to identify relationships among numerical variables.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Correlation values range from -1 to +1.</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heatmap helps understand how different transaction features are related.</a:t>
            </a:r>
          </a:p>
        </p:txBody>
      </p:sp>
      <p:sp>
        <p:nvSpPr>
          <p:cNvPr name="TextBox 5" id="5"/>
          <p:cNvSpPr txBox="true"/>
          <p:nvPr/>
        </p:nvSpPr>
        <p:spPr>
          <a:xfrm rot="0">
            <a:off x="1028700" y="380626"/>
            <a:ext cx="17259300"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CORRELATION HEATMAP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24926" y="4419299"/>
            <a:ext cx="11037417" cy="3300479"/>
          </a:xfrm>
          <a:custGeom>
            <a:avLst/>
            <a:gdLst/>
            <a:ahLst/>
            <a:cxnLst/>
            <a:rect r="r" b="b" t="t" l="l"/>
            <a:pathLst>
              <a:path h="3300479" w="11037417">
                <a:moveTo>
                  <a:pt x="0" y="0"/>
                </a:moveTo>
                <a:lnTo>
                  <a:pt x="11037417" y="0"/>
                </a:lnTo>
                <a:lnTo>
                  <a:pt x="11037417" y="3300479"/>
                </a:lnTo>
                <a:lnTo>
                  <a:pt x="0" y="3300479"/>
                </a:lnTo>
                <a:lnTo>
                  <a:pt x="0" y="0"/>
                </a:lnTo>
                <a:close/>
              </a:path>
            </a:pathLst>
          </a:custGeom>
          <a:blipFill>
            <a:blip r:embed="rId2"/>
            <a:stretch>
              <a:fillRect l="0" t="0" r="0" b="0"/>
            </a:stretch>
          </a:blipFill>
        </p:spPr>
      </p:sp>
      <p:sp>
        <p:nvSpPr>
          <p:cNvPr name="TextBox 3" id="3"/>
          <p:cNvSpPr txBox="true"/>
          <p:nvPr/>
        </p:nvSpPr>
        <p:spPr>
          <a:xfrm rot="0">
            <a:off x="490560" y="1625467"/>
            <a:ext cx="15306148" cy="162813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Outliers were detected using the IQR method.</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Extreme transaction amounts were identified.</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Outlier detection helps in recognizing unusual transaction behavior.</a:t>
            </a:r>
          </a:p>
        </p:txBody>
      </p:sp>
      <p:sp>
        <p:nvSpPr>
          <p:cNvPr name="TextBox 4" id="4"/>
          <p:cNvSpPr txBox="true"/>
          <p:nvPr/>
        </p:nvSpPr>
        <p:spPr>
          <a:xfrm rot="0">
            <a:off x="1028700" y="380626"/>
            <a:ext cx="17259300"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OUTLIER DETECTION</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7671" y="390523"/>
            <a:ext cx="17259300"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CONCLUSION</a:t>
            </a:r>
          </a:p>
        </p:txBody>
      </p:sp>
      <p:sp>
        <p:nvSpPr>
          <p:cNvPr name="TextBox 3" id="3"/>
          <p:cNvSpPr txBox="true"/>
          <p:nvPr/>
        </p:nvSpPr>
        <p:spPr>
          <a:xfrm rot="0">
            <a:off x="0" y="2167277"/>
            <a:ext cx="17836971" cy="7278370"/>
          </a:xfrm>
          <a:prstGeom prst="rect">
            <a:avLst/>
          </a:prstGeom>
        </p:spPr>
        <p:txBody>
          <a:bodyPr anchor="t" rtlCol="false" tIns="0" lIns="0" bIns="0" rIns="0">
            <a:spAutoFit/>
          </a:bodyPr>
          <a:lstStyle/>
          <a:p>
            <a:pPr algn="l" marL="798828" indent="-399414" lvl="1">
              <a:lnSpc>
                <a:spcPts val="5179"/>
              </a:lnSpc>
              <a:buFont typeface="Arial"/>
              <a:buChar char="•"/>
            </a:pPr>
            <a:r>
              <a:rPr lang="en-US" sz="3699">
                <a:solidFill>
                  <a:srgbClr val="000000"/>
                </a:solidFill>
                <a:latin typeface="Times New Roman MT"/>
                <a:ea typeface="Times New Roman MT"/>
                <a:cs typeface="Times New Roman MT"/>
                <a:sym typeface="Times New Roman MT"/>
              </a:rPr>
              <a:t>In this project, I analyzed a credit card fraud dataset using Exploratory Data Analysis (EDA) techniques. The dataset was first cleaned by checking for missing values and duplicate records to ensure accurate analysis. Different visualizations were created to understand transaction patterns, merchant categories, foreign transactions, and cardholder details.</a:t>
            </a:r>
          </a:p>
          <a:p>
            <a:pPr algn="l" marL="798828" indent="-399414" lvl="1">
              <a:lnSpc>
                <a:spcPts val="5179"/>
              </a:lnSpc>
              <a:buFont typeface="Arial"/>
              <a:buChar char="•"/>
            </a:pPr>
            <a:r>
              <a:rPr lang="en-US" sz="3699">
                <a:solidFill>
                  <a:srgbClr val="000000"/>
                </a:solidFill>
                <a:latin typeface="Times New Roman MT"/>
                <a:ea typeface="Times New Roman MT"/>
                <a:cs typeface="Times New Roman MT"/>
                <a:sym typeface="Times New Roman MT"/>
              </a:rPr>
              <a:t>Outlier detection was performed to identify unusual transaction amounts, while pattern recognition helped compare fraudulent and non-fraudulent transactions. Through this analysis, I gained a better understanding of how transaction data can be used to identify suspicious activities and detect potential fraud. Overall, this project improved my practical knowledge of Python, data analysis, and data visualization techniques.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02122" y="2095617"/>
            <a:ext cx="16883757" cy="4577982"/>
          </a:xfrm>
          <a:prstGeom prst="rect">
            <a:avLst/>
          </a:prstGeom>
        </p:spPr>
        <p:txBody>
          <a:bodyPr anchor="t" rtlCol="false" tIns="0" lIns="0" bIns="0" rIns="0">
            <a:spAutoFit/>
          </a:bodyPr>
          <a:lstStyle/>
          <a:p>
            <a:pPr algn="ctr" marL="0" indent="0" lvl="0">
              <a:lnSpc>
                <a:spcPts val="37470"/>
              </a:lnSpc>
              <a:spcBef>
                <a:spcPct val="0"/>
              </a:spcBef>
            </a:pPr>
            <a:r>
              <a:rPr lang="en-US" sz="26764" spc="187" strike="noStrike" u="none">
                <a:solidFill>
                  <a:srgbClr val="000000"/>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DAHL9VRIaUc</dc:identifier>
  <dcterms:modified xsi:type="dcterms:W3CDTF">2011-08-01T06:04:30Z</dcterms:modified>
  <cp:revision>1</cp:revision>
  <dc:title>Blue Black and White Modern Technology Presentation</dc:title>
</cp:coreProperties>
</file>